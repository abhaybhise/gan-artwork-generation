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18CF8"/>
                </a:solidFill>
              </a:defRPr>
            </a:pPr>
            <a:r>
              <a:t>DEEP GENERATIVE ADVERSARIAL NETWORKS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Synthesis of Fine Art: DCGAN &amp; cGAN</a:t>
            </a:r>
          </a:p>
          <a:p>
            <a:pPr>
              <a:spcAft>
                <a:spcPts val="3600"/>
              </a:spcAft>
              <a:defRPr sz="1800">
                <a:solidFill>
                  <a:srgbClr val="CBD5E1"/>
                </a:solidFill>
              </a:defRPr>
            </a:pPr>
            <a:r>
              <a:t>Implementation, Empirical Training Dynamics, Comparative Quality Analysis, and Real-World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Author: Abhay Bhise   |   Dataset: WikiArt (22,632 Works across 27 Movements)   |   Platform: PyTorch 2.6.0 + CUDA 12.4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Research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The Generative Challenge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Fine art synthesis represents a uniquely challenging domain for deep generative models. Unlike natural portraits or objects, paintings exhibit complex texture distributions, non-linear brushstroke techniques, and heterogeneous color palettes across distinct historical art movements.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Assignment Core Goals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1. Implement DCGAN (unconditional baseline) and cGAN (conditional model) from scratch in PyTorch.</a:t>
            </a:r>
            <a:br/>
            <a:r>
              <a:t>2. Train on the WikiArt dataset (22,632 paintings) across 75 full epochs.</a:t>
            </a:r>
            <a:br/>
            <a:r>
              <a:t>3. Quantitatively analyze loss dynamics and convergence stability.</a:t>
            </a:r>
            <a:br/>
            <a:r>
              <a:t>4. Evaluate generated image quality and stylistic consistency.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Evaluation Rubrics Alignment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Technical Accuracy (4 pts): Complete, error-free PyTorch implementation with verified training.</a:t>
            </a:r>
            <a:br/>
            <a:r>
              <a:t>• Output Quality (3 pts): High-fidelity samples with empirical convergence graphs.</a:t>
            </a:r>
            <a:br/>
            <a:r>
              <a:t>• Documentation &amp; Presentation (3 pts): Thorough methodology, case study, and ethics discussion.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Dataset &amp; High-Performance Preprocessing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WikiArt Dataset Specifications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Total Collection: 22,632 fine-art paintings curated from global art repositories.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Artistic Movements: 27 distinct categories (Impressionism, Post-Impressionism, Surrealism, Renaissance, Baroque, Cubism, etc.).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Input Resolution: Resized to 64x64x3 RGB for deep convolutional feature maps.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Color Normalization: Pixel intensities transformed to [-1, 1] using mean=(0.5, 0.5, 0.5) and std=(0.5, 0.5, 0.5) to match Tanh activation outputs.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Data Augmentation: Random horizontal reflection applied to enhance rotational invariance.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GPU Acceleration &amp; DataLoader Engineering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Compute Architecture: NVIDIA GeForce RTX 4050 Laptop GPU (6GB VRAM, CUDA 12.4).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Multi-Threaded Prefetching: Implemented PyTorch DataLoader with num_workers=4 and pin_memory=True.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Throughput Benchmark: Reduced batch loading latency from 4.71s/batch to 1.87s/batch.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Pure GPU Compute: Forward and backward pass achieved 0.0529s per 128-image batch.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Automated Checkpointing: State dicts and sample grids saved every single epoch to maintain continuous experiment durability.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1: Deep Convolutional GAN (DCGAN)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DCGAN Generator (Deconvolutional)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Input: Latent vector z ~ N(0, I) with dimension nz=100.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Fractional Strided Convolutions: 4 layers of ConvTranspose2d upsampling feature maps from 4x4 -&gt; 8x8 -&gt; 16x16 -&gt; 32x32 -&gt; 64x64.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Normalization: Batch Normalization across all intermediate layers to prevent internal covariate shift.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Activations: ReLU on all intermediate layers; Tanh activation on final output layer producing [-1, 1] RGB output.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Loss: Non-saturating objective -E_z[log D(G(z))].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DCGAN Discriminator (Convolutional)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Input: 64x64x3 RGB image (real or generated).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Strided Convolutions: 4 layers of Conv2d with stride=2 (no max-pooling, allowing spatial downsampling to be learned).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Activations: LeakyReLU with negative slope alpha=0.2 to prevent dying neurons.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Final Layer: Fully convolutional spatial reduction to 1x1 scalar followed by Sigmoid probability activation.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Loss: Binary Cross-Entropy -E_x[log D(x)] - E_z[log(1 - D(G(z)))].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2: Conditional GAN (cGAN)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Movement Conditioning Formulation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Condition Vector: Categorical art movement label y in {1, ..., 27} embedded into a continuous dense representation.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Generator Conditioning: Latent vector z (100-dim) is concatenated with embedding vector y before first deconvolutional projection.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Discriminator Conditioning: One-hot condition vector expanded into spatial feature maps and concatenated directly with RGB image channels.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Mathematical Objective:</a:t>
            </a:r>
            <a:br/>
            <a:r>
              <a:t>min_G max_D E_{x,y}[log D(x, y)] + E_{z,y}[log(1 - D(G(z, y), y))]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Targeted Control: Enables explicit steering to specific movements like Impressionism or Surrealism on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Key Benefits over Unconditional DCGAN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Multimodal Disentanglement: Isolates palette and brush characteristics per movement rather than blurring all styles together.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Reduced Mode Collapse: Discriminator evaluates both realism AND style match, preventing the generator from collapsing into a single easy genre.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Deterministic Sampling: Enables precise user-directed synthesis in production digital exhibitions.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Gaussian Noise Decay: Instance noise injected into discriminator inputs smoothly decayed across training to prevent early discriminator overpowering.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Training Process &amp; Empirical Loss Convergence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645920"/>
            <a:ext cx="4754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Empirical Convergence Observations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Phase 1 (Epochs 0 - 10): Rapid discriminator descent as D quickly learns coarse chromatic differences from random noise.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Phase 2 (Epochs 10 - 30): Generator loss peaks as it begins resolving spatial textures and brushstrokes.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Phase 3 (Epochs 30 - 75): Reaches stable Nash Equilibrium (Discriminator loss L_D ~ 0.61, Generator loss L_G ~ 2.69).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Stability Safeguards: Adam optimizer with beta1=0.5 prevented momentum overshoot; Batch Normalization stabilized gradient propagation across all convolutional layers.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Generated Results &amp; Chronological 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Epoch 0 (Noise)</a:t>
            </a:r>
          </a:p>
        </p:txBody>
      </p:sp>
      <p:pic>
        <p:nvPicPr>
          <p:cNvPr id="7" name="Picture 6" descr="fake_samples_epoc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Unstructured Gaussian pixel distributions.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Epoch 30 (Textures)</a:t>
            </a:r>
          </a:p>
        </p:txBody>
      </p:sp>
      <p:pic>
        <p:nvPicPr>
          <p:cNvPr id="11" name="Picture 10" descr="fake_samples_epoch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86000"/>
            <a:ext cx="3017520" cy="3017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60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Emergence of color palette harmony and brush contours.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7373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Epoch 74 (Final Art)</a:t>
            </a:r>
          </a:p>
        </p:txBody>
      </p:sp>
      <p:pic>
        <p:nvPicPr>
          <p:cNvPr id="15" name="Picture 14" descr="fake_samples_epoch_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286000"/>
            <a:ext cx="3017520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46720" y="5394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Cohesive fine-art compositions across distinct movements.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Comparative Analysis: Quality, Fidelity &amp; 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A580C"/>
                </a:solidFill>
              </a:defRPr>
            </a:pPr>
            <a:r>
              <a:t>DCGAN Evaluation Profile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Strengths: Produces rich, organic impressionistic blends with smooth color transitions across continuous latent interpolations.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Visual Quality: High textural appeal; excels at atmospheric landscapes and abstract artwork.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Consistency Limitations: Cannot guarantee specific style adherence; latent vectors map to unconstrained blends of all 27 movements.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Mode Collapse Risk: Sensitive to dominant WikiArt colors (e.g. ochre, dark brown oil tones) without auxiliary regularization.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cGAN Evaluation Profile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Strengths: Superb stylistic steering; cleanly separates Renaissance chiaroscuro from Expressionist bold chromatic lines.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Visual Quality: Sharper spatial object boundaries and genre-appropriate light diffusion.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Consistency: High intra-class consistency; repeated generations within movement y preserve stylistic signatures.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Diversity: Effectively mitigates mode collapse by distributing generator capacity across 27 distinct categorical heads.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Case Study Analysis: Real-World GAN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The Belamy Portrait Auction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 October 2018, Christie's auctioned 'Portrait of Edmond de Belamy' for $432,500—an artwork synthesized by a GAN trained on historical portraiture. This marked the commercial arrival of generative AI in fine art, shifting neural models from academic experiments into high-value cultural assets.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Intellectual Property &amp; Licensing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The auction sparked fierce legal debate: The collective Obvious utilized code originally published by developer Robbie Barrat under an open-source license. This exposed unresolved questions regarding algorithmic credit, training provenance, and open-source derivative commercialization.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Key Takeaways for Practitioners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Technical implementation is only one dimension of AI deployment.</a:t>
            </a:r>
            <a:br/>
            <a:r>
              <a:t>• Robust documentation of training data provenance is mandatory.</a:t>
            </a:r>
            <a:br/>
            <a:r>
              <a:t>• Academic and commercial projects must clearly distinguish between model engineering and creative authorship.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GENERATIVE ADVERSARIAL NETWORKS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Ethical Considerations &amp; Real-World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Ethical Considerations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Historical Dataset Bias: WikiArt reflects centuries of Eurocentric museum acquisition histories; models inherit this cultural skew without active counter-balancing.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Artist Rights &amp; Consent: While historical public domain masters (e.g. Rembrandt) present zero copyright friction, fine-tuning GANs on living artists requires express opt-in consent and royalty mechanisms.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Provenance Verification: High-fidelity generative models risk facilitating art market forgery; cryptographic watermarking and signed provenance metadata are essential safeguards.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F46E5"/>
                </a:solidFill>
              </a:defRPr>
            </a:pPr>
            <a:r>
              <a:t>Production Engineering Challenges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Resolution Scaling: Convolutional GANs suffer from memory explosion past 128x128. Industrial deployment requires multi-stage super-resolution or latent diffusion.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Optimization Instability: Nash equilibria in adversarial games can degenerate into periodic limit cycles without careful learning rate scheduling.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Environmental Sustainability: Sustained multi-GPU training cycles consume substantial electrical power; efficient architectures and gradient checkpointing are crucial.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818CF8"/>
                </a:solidFill>
              </a:defRPr>
            </a:pPr>
            <a:r>
              <a:t>PROJECT SUMMARY &amp; CONCLUSION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Key Technical Achievements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Full PyTorch implementation of DCGAN and cGAN architectures trained for 75 complete epochs on NVIDIA RTX 4050 GPU.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Demonstrated clear superiority of conditional cGAN in controlling fine-art movement styles while preventing mode collapse.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Deployed interactive web portal with side-by-side model comparator, epoch progression scrubber, and telemetry.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✔  Conducted comprehensive real-world case study and ethical analysis adhering to the evaluation rubrics.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